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80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0072EB-CE44-4DAE-BD87-4B54539DE79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3"/>
            <p14:sldId id="270"/>
            <p14:sldId id="271"/>
            <p14:sldId id="272"/>
            <p14:sldId id="274"/>
            <p14:sldId id="275"/>
            <p14:sldId id="276"/>
            <p14:sldId id="277"/>
            <p14:sldId id="280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CC176-E927-48C1-9E78-25B776E244D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F2EB6-9226-4F1F-A8FF-5E431AC0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2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F2EB6-9226-4F1F-A8FF-5E431AC04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8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F55-F87D-56F9-E8A7-EF5BEF8CA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D5CDD-53C7-4BB7-BC2A-EA7A32711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B2C6E-E53F-3116-7CFA-B6AA155B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665DA-B5E4-C545-B812-C33C6586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EC794-F511-82E5-3FA7-0DB682D4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8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167D-6947-7079-600F-7A4058A6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D46C3-F087-C0F5-0663-3362DAB08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DD0A9-19D5-D752-AF53-6B79D432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23205-640E-8B03-7D36-16F6544C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23FFD-D8FF-6842-E02F-51C757D8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8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77C1-8A44-A6F7-2B8A-FC871ED9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77328-BE87-EA2D-B237-0305D7BE4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9476E-F3D7-EC5C-42FE-62DC7297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E6D75-1E87-D22A-9CBA-B3789D7C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AF623-E7CB-3F9C-9080-2FDC91AC7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33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9A9E-EBE1-7C92-585A-81BB5F22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8470-8B8B-3DDD-858B-F59446535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955DE-6167-1B92-11AE-D386B84F9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84CAB-7B79-8D94-7FD0-880489F9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8083C-85D0-20D2-6F40-43C7A834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9377E-5B66-C634-D429-F9B41F46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1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F817-16CE-E7AA-75F0-A5D4232A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CF7BD-EDFE-944A-49C1-E1BA3B9F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61D4D-B75D-ED91-D154-C25ABA498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F204E-6F28-460A-F1EF-5BC1170C2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E7625-A3B0-A6C8-D8D3-3C0F8BA09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AFE26D-E484-E31D-8B7F-5F97B84D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238A7-BFB8-469F-3726-E7E0D77C7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661D2-5605-6ECD-B24E-CF3C8422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0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5882-F24D-CA35-0EB4-BBA074BEB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511218-04DB-EBD9-5348-41285236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E7DD7-1B31-6792-B1ED-4CA437E2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E9529-30AD-2119-91E2-D1418989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0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869E45-A393-97F4-94CF-F43BC2430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D58AD-4595-E0AC-89D5-E6224A07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A8D09-0ACC-7707-BEF5-279610A5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7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1A07-56F3-04D5-CC8D-AE061584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E747-6FB8-F766-2F2B-90BE64A6A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A878F-374B-8714-3C8F-9C2233F6C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682D8-B315-9CEC-DA51-68E3D32F2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5012B-48FA-8A21-DCC4-A066CAAA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133C3-B6AB-E0D6-DD3F-05706CE0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E9F3-CDF0-1798-8DD9-4DBEF9E7C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66AB4-7C1B-95D4-C2C8-0031AC6EE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66298-8B45-9BF2-95C6-64F4DE538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188DA-1408-721C-7B69-C54B0EB9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7946F-8139-9FB8-9263-F3FD93F6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B38FB-55FE-46B8-A7AA-521AB40A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5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8EF4-098D-BFCD-BA03-06C65C43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E383A-913E-8F68-04C9-13936150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276F6-A42B-2A78-647D-9BEDCC54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8252F-0701-B223-BD5A-A2FFF54C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DFECD-FA52-1516-79DB-F06C1577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5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19F72-D352-5C82-800F-E85BACBFF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0EDB3-C178-F8B9-92EA-A1EF66336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1C8FA-59FE-5EF4-F809-785BC281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51CF7-B2D5-F06D-A55A-2667E62F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D5A51-A8AD-AD68-5273-F2C7BE93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2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25A53-3E2D-29B7-C450-C3363F926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0FB8C-F170-2BD8-62EF-52AF5AE57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9C59F-0385-A211-DBBC-7D66A74AA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0D16B-F71E-47D3-98C0-AAFBE938917F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F23BD-2EEF-BE12-DE63-5A972CA11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FC79A-4069-B993-6311-18783E518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FC597-A8B2-4119-AF09-2E4A2FB83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9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15E0-F574-0B2D-AA92-C9A9092F3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3591"/>
            <a:ext cx="9144000" cy="2387600"/>
          </a:xfrm>
        </p:spPr>
        <p:txBody>
          <a:bodyPr>
            <a:noAutofit/>
          </a:bodyPr>
          <a:lstStyle/>
          <a:p>
            <a:r>
              <a:rPr lang="en-US" sz="6600" dirty="0"/>
              <a:t>DSA2 project:</a:t>
            </a:r>
            <a:br>
              <a:rPr lang="en-US" sz="6600" dirty="0"/>
            </a:br>
            <a:r>
              <a:rPr lang="en-US" sz="6600" dirty="0"/>
              <a:t>The most fun you’ll have in your whole ISCL experience!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A5638-4304-3221-A6BA-5DA31BA87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0188" y="4694409"/>
            <a:ext cx="3487812" cy="1655762"/>
          </a:xfrm>
        </p:spPr>
        <p:txBody>
          <a:bodyPr>
            <a:normAutofit/>
          </a:bodyPr>
          <a:lstStyle/>
          <a:p>
            <a:r>
              <a:rPr lang="en-US" sz="2000" dirty="0"/>
              <a:t>(tutors never lie)</a:t>
            </a:r>
          </a:p>
        </p:txBody>
      </p:sp>
    </p:spTree>
    <p:extLst>
      <p:ext uri="{BB962C8B-B14F-4D97-AF65-F5344CB8AC3E}">
        <p14:creationId xmlns:p14="http://schemas.microsoft.com/office/powerpoint/2010/main" val="278410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4B30-876B-852A-8B4C-443AFEFC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facts at a glance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35425-6959-5FCE-E79A-BE6D035A4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Deadline: July 30, 23:59</a:t>
            </a:r>
          </a:p>
          <a:p>
            <a:endParaRPr lang="en-US" dirty="0"/>
          </a:p>
          <a:p>
            <a:r>
              <a:rPr lang="en-US" dirty="0"/>
              <a:t>Project grade is not part of your final grade, but you must pass the project to pass the course</a:t>
            </a:r>
          </a:p>
          <a:p>
            <a:endParaRPr lang="en-US" dirty="0"/>
          </a:p>
          <a:p>
            <a:r>
              <a:rPr lang="en-US" dirty="0"/>
              <a:t>Three tutor checkpoint meetings, attendance mandatory (more later)</a:t>
            </a:r>
          </a:p>
          <a:p>
            <a:endParaRPr lang="en-US" dirty="0"/>
          </a:p>
          <a:p>
            <a:r>
              <a:rPr lang="en-US" dirty="0"/>
              <a:t>Every member must contribute meaningfully</a:t>
            </a:r>
          </a:p>
          <a:p>
            <a:pPr lvl="1"/>
            <a:r>
              <a:rPr lang="en-US" dirty="0"/>
              <a:t>Team members can receive different grades for the project</a:t>
            </a:r>
          </a:p>
          <a:p>
            <a:pPr lvl="1"/>
            <a:r>
              <a:rPr lang="en-US" dirty="0"/>
              <a:t>Anyone who’s just free-riding off their group will fail even if the group passes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0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0D01-7D81-B6BE-277A-B2171726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A6B84-4EF3-DA5F-D1EE-9E09E01AD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develop an app allows users to search for key terms in some text, </a:t>
            </a:r>
            <a:r>
              <a:rPr lang="en-US"/>
              <a:t>and shows the </a:t>
            </a:r>
            <a:r>
              <a:rPr lang="en-US" dirty="0"/>
              <a:t>results in context with additional linguistic information</a:t>
            </a:r>
          </a:p>
          <a:p>
            <a:endParaRPr lang="en-US" dirty="0"/>
          </a:p>
          <a:p>
            <a:r>
              <a:rPr lang="en-US" dirty="0"/>
              <a:t>The text will come from either a local file or from a website</a:t>
            </a:r>
          </a:p>
          <a:p>
            <a:endParaRPr lang="en-US" dirty="0"/>
          </a:p>
          <a:p>
            <a:r>
              <a:rPr lang="en-US" dirty="0"/>
              <a:t>The app will be fully GUI-driven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CEEB-11B3-E908-F24A-3549D84E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9543"/>
          </a:xfrm>
        </p:spPr>
        <p:txBody>
          <a:bodyPr/>
          <a:lstStyle/>
          <a:p>
            <a:r>
              <a:rPr lang="en-US" dirty="0"/>
              <a:t>Key components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CCB7-F678-108C-ABEA-5A9728C95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85"/>
            <a:ext cx="10515600" cy="4688602"/>
          </a:xfrm>
        </p:spPr>
        <p:txBody>
          <a:bodyPr>
            <a:normAutofit/>
          </a:bodyPr>
          <a:lstStyle/>
          <a:p>
            <a:r>
              <a:rPr lang="en-US" dirty="0"/>
              <a:t>GUI with Java Swing – 15 points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Web scraping– 10 points</a:t>
            </a:r>
          </a:p>
          <a:p>
            <a:endParaRPr lang="en-US" dirty="0"/>
          </a:p>
          <a:p>
            <a:r>
              <a:rPr lang="en-US" dirty="0"/>
              <a:t>Linguistic processing with </a:t>
            </a:r>
            <a:r>
              <a:rPr lang="en-US" dirty="0" err="1"/>
              <a:t>OpenNLP</a:t>
            </a:r>
            <a:r>
              <a:rPr lang="en-US" dirty="0"/>
              <a:t> – 10 points</a:t>
            </a:r>
          </a:p>
          <a:p>
            <a:endParaRPr lang="en-US" dirty="0"/>
          </a:p>
          <a:p>
            <a:r>
              <a:rPr lang="en-US" dirty="0"/>
              <a:t>Save to file via XML – 10 points</a:t>
            </a:r>
          </a:p>
          <a:p>
            <a:endParaRPr lang="en-US" dirty="0"/>
          </a:p>
          <a:p>
            <a:r>
              <a:rPr lang="en-US" dirty="0"/>
              <a:t>Create executable JAR file – 5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B1CBE-03C7-89FE-BBA2-E59D47BBF91B}"/>
              </a:ext>
            </a:extLst>
          </p:cNvPr>
          <p:cNvSpPr txBox="1"/>
          <p:nvPr/>
        </p:nvSpPr>
        <p:spPr>
          <a:xfrm>
            <a:off x="7857994" y="5549022"/>
            <a:ext cx="4334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The points do not necessarily reflect the amount of work required in each component, only their relative importance to getting the whole project “working”</a:t>
            </a:r>
          </a:p>
        </p:txBody>
      </p:sp>
    </p:spTree>
    <p:extLst>
      <p:ext uri="{BB962C8B-B14F-4D97-AF65-F5344CB8AC3E}">
        <p14:creationId xmlns:p14="http://schemas.microsoft.com/office/powerpoint/2010/main" val="215606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3F3C-0F79-DB15-CB01-EFC299D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847"/>
          </a:xfrm>
        </p:spPr>
        <p:txBody>
          <a:bodyPr/>
          <a:lstStyle/>
          <a:p>
            <a:r>
              <a:rPr lang="en-US" dirty="0"/>
              <a:t>GUI (Graphical User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4E45F-803D-A84B-C4E2-ADC1A1B71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889"/>
            <a:ext cx="10515600" cy="4882074"/>
          </a:xfrm>
        </p:spPr>
        <p:txBody>
          <a:bodyPr>
            <a:normAutofit/>
          </a:bodyPr>
          <a:lstStyle/>
          <a:p>
            <a:r>
              <a:rPr lang="en-US" dirty="0"/>
              <a:t>Your GUI should be well-designed, intuitive, and user-friendly</a:t>
            </a:r>
          </a:p>
          <a:p>
            <a:endParaRPr lang="en-US" dirty="0"/>
          </a:p>
          <a:p>
            <a:r>
              <a:rPr lang="en-US" dirty="0"/>
              <a:t>Think of apps you’ve used that you thought were either very intuitive, or very unintuitive, examine how their GUIs were designed</a:t>
            </a:r>
          </a:p>
          <a:p>
            <a:endParaRPr lang="en-US" dirty="0"/>
          </a:p>
          <a:p>
            <a:r>
              <a:rPr lang="en-US" dirty="0"/>
              <a:t>Users should get appropriate feedback in the case of any exceptions, errors, etc.</a:t>
            </a:r>
          </a:p>
          <a:p>
            <a:pPr lvl="1"/>
            <a:r>
              <a:rPr lang="en-US" dirty="0"/>
              <a:t>Don’t just pop a window that says “Error!”, that tells the user nothing</a:t>
            </a:r>
          </a:p>
          <a:p>
            <a:pPr lvl="1"/>
            <a:r>
              <a:rPr lang="en-US" dirty="0"/>
              <a:t>Don’t throw the exception as-is at the user, don’t assume end users have any programming experience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483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C79D-B3E2-138F-65BA-A2476340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0"/>
            <a:ext cx="10515600" cy="571678"/>
          </a:xfrm>
        </p:spPr>
        <p:txBody>
          <a:bodyPr>
            <a:normAutofit fontScale="90000"/>
          </a:bodyPr>
          <a:lstStyle/>
          <a:p>
            <a:r>
              <a:rPr lang="en-US" dirty="0"/>
              <a:t>GUI examples from past projects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7C194-54B3-DAB0-249A-7EAE4A796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08" y="601418"/>
            <a:ext cx="10275783" cy="596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8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F530-8E11-8253-EEE9-0682BC81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5109-4ECB-9B90-46FC-06046EB9D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0"/>
            <a:ext cx="10515600" cy="571678"/>
          </a:xfrm>
        </p:spPr>
        <p:txBody>
          <a:bodyPr>
            <a:normAutofit fontScale="90000"/>
          </a:bodyPr>
          <a:lstStyle/>
          <a:p>
            <a:r>
              <a:rPr lang="en-US" dirty="0"/>
              <a:t>GUI examples from past projects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68F96-E9C4-8EF2-626B-9DE3AC06B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5127" y="601418"/>
            <a:ext cx="8381744" cy="596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432D-2FC5-A9A2-DC94-4A20BAA1C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58CC-62DB-F3E6-9D8C-54151736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0"/>
            <a:ext cx="10515600" cy="571678"/>
          </a:xfrm>
        </p:spPr>
        <p:txBody>
          <a:bodyPr>
            <a:normAutofit fontScale="90000"/>
          </a:bodyPr>
          <a:lstStyle/>
          <a:p>
            <a:r>
              <a:rPr lang="en-US" dirty="0"/>
              <a:t>GUI examples from past projects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20B10-58FA-66BD-601D-D66D41EBA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7430" y="601418"/>
            <a:ext cx="7817139" cy="596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6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3495-0906-4E39-1335-5F9FE57A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AAC5A-A049-E52D-23CB-D80004898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specifically not telling you that these are GOOD examples</a:t>
            </a:r>
          </a:p>
          <a:p>
            <a:pPr lvl="1"/>
            <a:r>
              <a:rPr lang="en-US" dirty="0"/>
              <a:t>We are also not telling you that these are BAD examples</a:t>
            </a:r>
          </a:p>
          <a:p>
            <a:pPr lvl="1"/>
            <a:endParaRPr lang="en-US" dirty="0"/>
          </a:p>
          <a:p>
            <a:r>
              <a:rPr lang="en-US" dirty="0"/>
              <a:t>These are simply examples that come from your senpais and their senpais, through the long line of our ISCL ancestry, back into the times of legend</a:t>
            </a:r>
          </a:p>
          <a:p>
            <a:endParaRPr lang="en-US" dirty="0"/>
          </a:p>
          <a:p>
            <a:r>
              <a:rPr lang="en-US" dirty="0"/>
              <a:t>Use your accumulated experience as savvy consumers of apps to judge what works and what doesn’t</a:t>
            </a:r>
          </a:p>
        </p:txBody>
      </p:sp>
    </p:spTree>
    <p:extLst>
      <p:ext uri="{BB962C8B-B14F-4D97-AF65-F5344CB8AC3E}">
        <p14:creationId xmlns:p14="http://schemas.microsoft.com/office/powerpoint/2010/main" val="2386101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80C0-DD27-DCA5-76CB-C1C78F90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B9EA5-B700-E44D-2598-CC4CD31A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888"/>
          </a:xfrm>
        </p:spPr>
        <p:txBody>
          <a:bodyPr/>
          <a:lstStyle/>
          <a:p>
            <a:r>
              <a:rPr lang="en-US" dirty="0"/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3C136-404F-F652-25AF-CDBC97305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710"/>
            <a:ext cx="10515600" cy="48452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You already know how to read in from a local file, but now you need to grab text from a webpage</a:t>
            </a:r>
          </a:p>
          <a:p>
            <a:pPr lvl="1"/>
            <a:r>
              <a:rPr lang="en-US" dirty="0"/>
              <a:t>For the purposes of this project, we will only consider Wikipedia pages</a:t>
            </a:r>
          </a:p>
          <a:p>
            <a:pPr lvl="1"/>
            <a:endParaRPr lang="en-US" dirty="0"/>
          </a:p>
          <a:p>
            <a:r>
              <a:rPr lang="en-US" dirty="0"/>
              <a:t>The user will provide a URL (through the GUI), and you need to grab the contents of that page</a:t>
            </a:r>
          </a:p>
          <a:p>
            <a:endParaRPr lang="en-US" dirty="0"/>
          </a:p>
          <a:p>
            <a:r>
              <a:rPr lang="en-US" dirty="0"/>
              <a:t>The text should be cleaned for the next step, so footnotes, metadata, </a:t>
            </a:r>
            <a:r>
              <a:rPr lang="en-US" dirty="0" err="1"/>
              <a:t>etc</a:t>
            </a:r>
            <a:r>
              <a:rPr lang="en-US" dirty="0"/>
              <a:t>, need to be removed</a:t>
            </a:r>
          </a:p>
          <a:p>
            <a:endParaRPr lang="en-US" dirty="0"/>
          </a:p>
          <a:p>
            <a:r>
              <a:rPr lang="en-US" dirty="0"/>
              <a:t>There are many ways to do this. </a:t>
            </a:r>
            <a:r>
              <a:rPr lang="en-US" dirty="0" err="1"/>
              <a:t>Jsoup</a:t>
            </a:r>
            <a:r>
              <a:rPr lang="en-US" dirty="0"/>
              <a:t> is an open-source Java library you can look into.</a:t>
            </a:r>
          </a:p>
        </p:txBody>
      </p:sp>
    </p:spTree>
    <p:extLst>
      <p:ext uri="{BB962C8B-B14F-4D97-AF65-F5344CB8AC3E}">
        <p14:creationId xmlns:p14="http://schemas.microsoft.com/office/powerpoint/2010/main" val="756692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CB89-8CF9-E3C2-9528-9C9B491C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156-0DFE-50D2-8A56-43323384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888"/>
          </a:xfrm>
        </p:spPr>
        <p:txBody>
          <a:bodyPr/>
          <a:lstStyle/>
          <a:p>
            <a:r>
              <a:rPr lang="en-US" dirty="0" err="1"/>
              <a:t>OpenNLP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C510-A92B-4F7C-A930-52CF931C4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710"/>
            <a:ext cx="10515600" cy="4845253"/>
          </a:xfrm>
        </p:spPr>
        <p:txBody>
          <a:bodyPr>
            <a:normAutofit/>
          </a:bodyPr>
          <a:lstStyle/>
          <a:p>
            <a:r>
              <a:rPr lang="en-US" dirty="0"/>
              <a:t>AKA, the whole point of the project</a:t>
            </a:r>
          </a:p>
          <a:p>
            <a:endParaRPr lang="en-US" dirty="0"/>
          </a:p>
          <a:p>
            <a:r>
              <a:rPr lang="en-US" dirty="0"/>
              <a:t>Taking the cleaned text from your web scraper (or document reader), use </a:t>
            </a:r>
            <a:r>
              <a:rPr lang="en-US" dirty="0" err="1"/>
              <a:t>OpenNLP</a:t>
            </a:r>
            <a:r>
              <a:rPr lang="en-US" dirty="0"/>
              <a:t> to identify sentences, word tokens, lemmas, and POS tags</a:t>
            </a:r>
          </a:p>
          <a:p>
            <a:pPr lvl="1"/>
            <a:endParaRPr lang="en-US" dirty="0"/>
          </a:p>
          <a:p>
            <a:r>
              <a:rPr lang="en-US" dirty="0"/>
              <a:t>You need to provide a way to search by word, lemma, or POS tag</a:t>
            </a:r>
          </a:p>
          <a:p>
            <a:endParaRPr lang="en-US" dirty="0"/>
          </a:p>
          <a:p>
            <a:r>
              <a:rPr lang="en-US" dirty="0"/>
              <a:t>The results will be piped back to the GUI for display to the user</a:t>
            </a:r>
          </a:p>
        </p:txBody>
      </p:sp>
    </p:spTree>
    <p:extLst>
      <p:ext uri="{BB962C8B-B14F-4D97-AF65-F5344CB8AC3E}">
        <p14:creationId xmlns:p14="http://schemas.microsoft.com/office/powerpoint/2010/main" val="1425005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F0D17-3F1C-7F05-4941-292CDBDA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4F95-FB05-B852-9291-B3570A30F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888"/>
          </a:xfrm>
        </p:spPr>
        <p:txBody>
          <a:bodyPr/>
          <a:lstStyle/>
          <a:p>
            <a:r>
              <a:rPr lang="en-US" dirty="0"/>
              <a:t>Save via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2D28-730C-A023-D963-2D1C35BAB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710"/>
            <a:ext cx="10515600" cy="4845253"/>
          </a:xfrm>
        </p:spPr>
        <p:txBody>
          <a:bodyPr>
            <a:normAutofit/>
          </a:bodyPr>
          <a:lstStyle/>
          <a:p>
            <a:r>
              <a:rPr lang="en-US" dirty="0"/>
              <a:t>I’ve now made some amazing linguistic discoveries thanks to your app, but I need a way to present the data and win my Nobel Prize right?</a:t>
            </a:r>
          </a:p>
          <a:p>
            <a:endParaRPr lang="en-US" dirty="0"/>
          </a:p>
          <a:p>
            <a:r>
              <a:rPr lang="en-US" dirty="0"/>
              <a:t>Your app needs a way to output results to a new or existing XML file</a:t>
            </a:r>
          </a:p>
          <a:p>
            <a:endParaRPr lang="en-US" dirty="0"/>
          </a:p>
          <a:p>
            <a:r>
              <a:rPr lang="en-US" dirty="0"/>
              <a:t>Users should be able to specify the location and file name to save to</a:t>
            </a:r>
          </a:p>
          <a:p>
            <a:endParaRPr lang="en-US" dirty="0"/>
          </a:p>
          <a:p>
            <a:r>
              <a:rPr lang="en-US" dirty="0"/>
              <a:t>Results from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ALL</a:t>
            </a:r>
            <a:r>
              <a:rPr lang="en-US" dirty="0"/>
              <a:t> searches in the current session should be saved</a:t>
            </a:r>
          </a:p>
        </p:txBody>
      </p:sp>
    </p:spTree>
    <p:extLst>
      <p:ext uri="{BB962C8B-B14F-4D97-AF65-F5344CB8AC3E}">
        <p14:creationId xmlns:p14="http://schemas.microsoft.com/office/powerpoint/2010/main" val="2412220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D6AE-B9EB-DF56-6E40-C3ABB6DE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6D14-F1B5-0F87-2103-FB6CAF4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888"/>
          </a:xfrm>
        </p:spPr>
        <p:txBody>
          <a:bodyPr/>
          <a:lstStyle/>
          <a:p>
            <a:r>
              <a:rPr lang="en-US" dirty="0"/>
              <a:t>Making a JAR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E9F00-E75A-6735-D663-7E265EC46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710"/>
            <a:ext cx="10515600" cy="48452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I’m a linguist, what do I know about programming? Just give me something to double click!</a:t>
            </a:r>
          </a:p>
          <a:p>
            <a:endParaRPr lang="en-US" dirty="0"/>
          </a:p>
          <a:p>
            <a:r>
              <a:rPr lang="en-US" dirty="0"/>
              <a:t>A JAR (Java archive) is a file format that bundles all the files of your project together into one executable package</a:t>
            </a:r>
          </a:p>
          <a:p>
            <a:pPr lvl="1"/>
            <a:r>
              <a:rPr lang="en-US" dirty="0"/>
              <a:t>If your project is just one long file, you and your group have made many, many wrong choices in life</a:t>
            </a:r>
          </a:p>
          <a:p>
            <a:pPr lvl="1"/>
            <a:endParaRPr lang="en-US" dirty="0"/>
          </a:p>
          <a:p>
            <a:r>
              <a:rPr lang="en-US" dirty="0"/>
              <a:t>A JAR allows your app to be run as an actual independent program, separate from and outside of IntelliJ</a:t>
            </a:r>
          </a:p>
          <a:p>
            <a:endParaRPr lang="en-US" dirty="0"/>
          </a:p>
          <a:p>
            <a:r>
              <a:rPr lang="en-US" dirty="0"/>
              <a:t>You must include a JAR with your final submission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456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3B6B-2B97-12EB-2F24-88D4B55D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A2D6-0E3D-3663-4047-CC7E83B9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888"/>
          </a:xfrm>
        </p:spPr>
        <p:txBody>
          <a:bodyPr/>
          <a:lstStyle/>
          <a:p>
            <a:r>
              <a:rPr lang="en-US" dirty="0"/>
              <a:t>Making a JAR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449E-18DF-B1DE-FAC6-F2D16D3CD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710"/>
            <a:ext cx="10515600" cy="4845253"/>
          </a:xfrm>
        </p:spPr>
        <p:txBody>
          <a:bodyPr>
            <a:normAutofit/>
          </a:bodyPr>
          <a:lstStyle/>
          <a:p>
            <a:r>
              <a:rPr lang="en-US" dirty="0"/>
              <a:t>But, lips quivering, tears welling in your eyes, you exclaim, “I’ve never had to do anything like this before!”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IntelliJ can help you with this. A Jar is just an </a:t>
            </a:r>
            <a:r>
              <a:rPr lang="en-US" dirty="0">
                <a:solidFill>
                  <a:srgbClr val="FF0000"/>
                </a:solidFill>
              </a:rPr>
              <a:t>artifact</a:t>
            </a:r>
            <a:r>
              <a:rPr lang="en-US" dirty="0"/>
              <a:t> that IntelliJ can help you </a:t>
            </a:r>
            <a:r>
              <a:rPr lang="en-US" dirty="0">
                <a:solidFill>
                  <a:srgbClr val="FF0000"/>
                </a:solidFill>
              </a:rPr>
              <a:t>build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FCBAF-161D-1F32-F070-AB8C9C8F6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275" y="2242785"/>
            <a:ext cx="47434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83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CB2C5-7DD1-6712-0834-F93C2867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9323"/>
          </a:xfrm>
        </p:spPr>
        <p:txBody>
          <a:bodyPr/>
          <a:lstStyle/>
          <a:p>
            <a:r>
              <a:rPr lang="en-US" dirty="0"/>
              <a:t>Useful tips in case of </a:t>
            </a:r>
            <a:r>
              <a:rPr lang="en-US" dirty="0" err="1"/>
              <a:t>JARring</a:t>
            </a:r>
            <a:r>
              <a:rPr lang="en-US" dirty="0"/>
              <a:t>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96882-9E87-4536-25D1-61F641675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050"/>
            <a:ext cx="10515600" cy="4605913"/>
          </a:xfrm>
        </p:spPr>
        <p:txBody>
          <a:bodyPr/>
          <a:lstStyle/>
          <a:p>
            <a:r>
              <a:rPr lang="en-US" dirty="0"/>
              <a:t>Check your pom.xml (maven project file) for correct libraries, etc.</a:t>
            </a:r>
          </a:p>
          <a:p>
            <a:endParaRPr lang="en-US" dirty="0"/>
          </a:p>
          <a:p>
            <a:r>
              <a:rPr lang="en-US" dirty="0"/>
              <a:t>If you are using external media files in your GUI (button icons, etc.), read them as input streams: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04E3A-CBE6-BB63-FCAA-FFCC59096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192" y="3567107"/>
            <a:ext cx="9395615" cy="27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95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036-FDCD-D513-BA54-2DD9B11F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21DD-528E-8179-E4F1-E842CA9B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888"/>
          </a:xfrm>
        </p:spPr>
        <p:txBody>
          <a:bodyPr/>
          <a:lstStyle/>
          <a:p>
            <a:r>
              <a:rPr lang="en-US" dirty="0"/>
              <a:t>How to work as a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D9EF-3E24-7A40-34F8-59E31300D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710"/>
            <a:ext cx="10515600" cy="4845253"/>
          </a:xfrm>
        </p:spPr>
        <p:txBody>
          <a:bodyPr>
            <a:normAutofit/>
          </a:bodyPr>
          <a:lstStyle/>
          <a:p>
            <a:r>
              <a:rPr lang="en-US" dirty="0"/>
              <a:t>There is no I in the word team!</a:t>
            </a:r>
          </a:p>
          <a:p>
            <a:pPr lvl="1"/>
            <a:r>
              <a:rPr lang="en-US" dirty="0"/>
              <a:t>But there is camaraderie, communication, collaboration, and suffering</a:t>
            </a:r>
          </a:p>
          <a:p>
            <a:pPr lvl="2"/>
            <a:r>
              <a:rPr lang="en-US" dirty="0"/>
              <a:t>I didn’t know that team had so many letters!</a:t>
            </a:r>
          </a:p>
          <a:p>
            <a:pPr lvl="2"/>
            <a:endParaRPr lang="en-US" dirty="0"/>
          </a:p>
          <a:p>
            <a:r>
              <a:rPr lang="en-US" dirty="0"/>
              <a:t>The coding is NOT difficult (relatively speaking), the major challenge will be organizational</a:t>
            </a:r>
          </a:p>
          <a:p>
            <a:endParaRPr lang="en-US" dirty="0"/>
          </a:p>
          <a:p>
            <a:r>
              <a:rPr lang="en-US" dirty="0"/>
              <a:t>Every group will have different team dynamics, but figuring out how to get everyone organized and sharing a mental model of the project is key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45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FAF7-E46F-29C7-21A3-2A0A36BC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111C-5570-2ECB-8004-F4A4EA0D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888"/>
          </a:xfrm>
        </p:spPr>
        <p:txBody>
          <a:bodyPr/>
          <a:lstStyle/>
          <a:p>
            <a:r>
              <a:rPr lang="en-US" dirty="0"/>
              <a:t>How to GitHub as a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8801D-862A-DB6E-2F92-261B4D003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710"/>
            <a:ext cx="10515600" cy="48452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two people modify the same file and push, that leads to a merge conflict</a:t>
            </a:r>
          </a:p>
          <a:p>
            <a:endParaRPr lang="en-US" dirty="0"/>
          </a:p>
          <a:p>
            <a:r>
              <a:rPr lang="en-US" dirty="0"/>
              <a:t>Merge conflicts are annoying and a pain in the ass to resolve, so let’s try to avoid them if possible</a:t>
            </a:r>
          </a:p>
          <a:p>
            <a:endParaRPr lang="en-US" dirty="0"/>
          </a:p>
          <a:p>
            <a:r>
              <a:rPr lang="en-US" dirty="0"/>
              <a:t>Always pull down before you start working, so that your local codebase is up-to-date</a:t>
            </a:r>
          </a:p>
          <a:p>
            <a:endParaRPr lang="en-US" dirty="0"/>
          </a:p>
          <a:p>
            <a:r>
              <a:rPr lang="en-US" dirty="0"/>
              <a:t>Always push up when you have completed one logical unit of work</a:t>
            </a:r>
          </a:p>
          <a:p>
            <a:pPr lvl="1"/>
            <a:r>
              <a:rPr lang="en-US" dirty="0"/>
              <a:t>That could be one whole feature, one component of a larger feature, etc.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936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05A6-717A-1F20-8C5B-0F0F658D6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62A4-A819-725A-312F-A732728A4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888"/>
          </a:xfrm>
        </p:spPr>
        <p:txBody>
          <a:bodyPr/>
          <a:lstStyle/>
          <a:p>
            <a:r>
              <a:rPr lang="en-US" dirty="0"/>
              <a:t>How Program as a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362B0-D12C-623C-DC18-46ED21C2D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710"/>
            <a:ext cx="10515600" cy="4845253"/>
          </a:xfrm>
        </p:spPr>
        <p:txBody>
          <a:bodyPr>
            <a:normAutofit/>
          </a:bodyPr>
          <a:lstStyle/>
          <a:p>
            <a:r>
              <a:rPr lang="en-US" dirty="0"/>
              <a:t>Merge conflicts suck, so if at all possible people should not be working on the same files at the same time.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Remember, method signatures are like contracts, once we agree on your method name, the parameters it takes, and the output it gives, I can trust it to do what it does without needing to touch what’s inside</a:t>
            </a:r>
          </a:p>
          <a:p>
            <a:pPr lvl="1"/>
            <a:r>
              <a:rPr lang="en-US" dirty="0"/>
              <a:t>Assuming my teammate’s not a potato</a:t>
            </a:r>
          </a:p>
          <a:p>
            <a:endParaRPr lang="en-US" dirty="0"/>
          </a:p>
          <a:p>
            <a:r>
              <a:rPr lang="en-US" dirty="0"/>
              <a:t>It may be helpful to write up a “design document” with a list of public-facing (read: to be used by your teammates) methods and what they’re all about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254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D99A4-9FA7-1D0E-272B-17961229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9543"/>
          </a:xfrm>
        </p:spPr>
        <p:txBody>
          <a:bodyPr/>
          <a:lstStyle/>
          <a:p>
            <a:r>
              <a:rPr lang="en-US" dirty="0"/>
              <a:t>Checkpoints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0B93-3825-6432-DCF1-025FA6687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681"/>
            <a:ext cx="10515600" cy="4667282"/>
          </a:xfrm>
        </p:spPr>
        <p:txBody>
          <a:bodyPr>
            <a:normAutofit/>
          </a:bodyPr>
          <a:lstStyle/>
          <a:p>
            <a:r>
              <a:rPr lang="en-US" dirty="0"/>
              <a:t>Each group will have checkpoint meetings with us</a:t>
            </a:r>
          </a:p>
          <a:p>
            <a:pPr lvl="1"/>
            <a:r>
              <a:rPr lang="en-US" dirty="0"/>
              <a:t>For us to give you feedback on your progress</a:t>
            </a:r>
          </a:p>
          <a:p>
            <a:pPr lvl="1"/>
            <a:r>
              <a:rPr lang="en-US" dirty="0"/>
              <a:t>Or to point out areas of concern</a:t>
            </a:r>
          </a:p>
          <a:p>
            <a:endParaRPr lang="en-US" dirty="0"/>
          </a:p>
          <a:p>
            <a:r>
              <a:rPr lang="en-US" dirty="0"/>
              <a:t>Checkpoints will take place during Friday lab, check the schedule on Moodle</a:t>
            </a:r>
          </a:p>
          <a:p>
            <a:endParaRPr lang="en-US" dirty="0"/>
          </a:p>
          <a:p>
            <a:r>
              <a:rPr lang="en-US" dirty="0"/>
              <a:t>All group members are expected to attend, and to be on time. Being absent without a good reason is cause for losing individual project points.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472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D95CF-5943-6499-A110-58CAC518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AB83-5ECE-DEDE-80A6-34BE4092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9543"/>
          </a:xfrm>
        </p:spPr>
        <p:txBody>
          <a:bodyPr/>
          <a:lstStyle/>
          <a:p>
            <a:r>
              <a:rPr lang="en-US" dirty="0"/>
              <a:t>Checkpoints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D9453-8C94-D085-3E47-5C6C6100C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681"/>
            <a:ext cx="10515600" cy="4667282"/>
          </a:xfrm>
        </p:spPr>
        <p:txBody>
          <a:bodyPr>
            <a:normAutofit/>
          </a:bodyPr>
          <a:lstStyle/>
          <a:p>
            <a:r>
              <a:rPr lang="en-US" dirty="0"/>
              <a:t>You will need to submit a written PDF describing what each group member has done since the last checkpoint</a:t>
            </a:r>
          </a:p>
          <a:p>
            <a:endParaRPr lang="en-US" dirty="0"/>
          </a:p>
          <a:p>
            <a:r>
              <a:rPr lang="en-US" dirty="0"/>
              <a:t> The deadline is Thursdays 6:00PM before your group’s checkpoint session</a:t>
            </a:r>
          </a:p>
          <a:p>
            <a:endParaRPr lang="en-US" dirty="0"/>
          </a:p>
          <a:p>
            <a:r>
              <a:rPr lang="en-US" dirty="0"/>
              <a:t>Create a reports folder in your project and add the reports there, with the date in the name</a:t>
            </a:r>
          </a:p>
        </p:txBody>
      </p:sp>
    </p:spTree>
    <p:extLst>
      <p:ext uri="{BB962C8B-B14F-4D97-AF65-F5344CB8AC3E}">
        <p14:creationId xmlns:p14="http://schemas.microsoft.com/office/powerpoint/2010/main" val="4228601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1D38-E43F-AEF5-97F4-A354EFB2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7245"/>
          </a:xfrm>
        </p:spPr>
        <p:txBody>
          <a:bodyPr/>
          <a:lstStyle/>
          <a:p>
            <a:r>
              <a:rPr lang="en-US" dirty="0"/>
              <a:t>For the crazy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4774-39F7-215D-3CA4-7E7C691D3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299"/>
            <a:ext cx="10515600" cy="4863664"/>
          </a:xfrm>
        </p:spPr>
        <p:txBody>
          <a:bodyPr>
            <a:normAutofit/>
          </a:bodyPr>
          <a:lstStyle/>
          <a:p>
            <a:r>
              <a:rPr lang="en-US" sz="3200" dirty="0"/>
              <a:t>If you feel like this idea is boring, you can propose your own project idea, as long as the following conditions are all met:</a:t>
            </a:r>
          </a:p>
          <a:p>
            <a:pPr lvl="1"/>
            <a:endParaRPr lang="en-US" sz="2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dirty="0"/>
              <a:t>  All team members agree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dirty="0"/>
              <a:t>  The workload is similar or higher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dirty="0"/>
              <a:t>  The project is NLP-related in some way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dirty="0"/>
              <a:t>  We agree with your idea</a:t>
            </a:r>
          </a:p>
        </p:txBody>
      </p:sp>
    </p:spTree>
    <p:extLst>
      <p:ext uri="{BB962C8B-B14F-4D97-AF65-F5344CB8AC3E}">
        <p14:creationId xmlns:p14="http://schemas.microsoft.com/office/powerpoint/2010/main" val="1520065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5CE2-229E-C0F3-83BD-4C390201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4C4B-0CA1-325D-553B-2C0C0B89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7245"/>
          </a:xfrm>
        </p:spPr>
        <p:txBody>
          <a:bodyPr/>
          <a:lstStyle/>
          <a:p>
            <a:r>
              <a:rPr lang="en-US" dirty="0"/>
              <a:t>Some final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601BC-D04C-FE77-CF8D-B123323A9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299"/>
            <a:ext cx="10515600" cy="4863664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ORGANIZE!</a:t>
            </a:r>
          </a:p>
          <a:p>
            <a:endParaRPr lang="en-US" sz="3200" dirty="0"/>
          </a:p>
          <a:p>
            <a:r>
              <a:rPr lang="en-US" sz="3200" dirty="0"/>
              <a:t>Don’t just start throwing code on screen, the more time you spend in the design and planning phase, the less time you will spend in the oh-my-God-our-project-is-on-fire-and-I-don’t-know-how-to-put-it-out phase</a:t>
            </a:r>
          </a:p>
          <a:p>
            <a:endParaRPr lang="en-US" sz="3200" dirty="0"/>
          </a:p>
          <a:p>
            <a:r>
              <a:rPr lang="en-US" sz="3200" dirty="0"/>
              <a:t>Seriously, it’s not unusual to spend more time in design/planning than in coding. Think about how you want to package data together relationally, think about data structures.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25865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02A6-AA05-EDA7-517A-885099B3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7C94-DC3A-0FE6-34B0-7A3B23986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7245"/>
          </a:xfrm>
        </p:spPr>
        <p:txBody>
          <a:bodyPr/>
          <a:lstStyle/>
          <a:p>
            <a:r>
              <a:rPr lang="en-US" dirty="0"/>
              <a:t>Some final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E64A1-7D67-F7CA-0ECF-ED6A251CD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299"/>
            <a:ext cx="10515600" cy="4863664"/>
          </a:xfrm>
        </p:spPr>
        <p:txBody>
          <a:bodyPr>
            <a:normAutofit/>
          </a:bodyPr>
          <a:lstStyle/>
          <a:p>
            <a:r>
              <a:rPr lang="en-US" sz="3200" dirty="0"/>
              <a:t>The requirements presented are just the minimum specs. </a:t>
            </a:r>
          </a:p>
          <a:p>
            <a:endParaRPr lang="en-US" sz="3200" dirty="0"/>
          </a:p>
          <a:p>
            <a:r>
              <a:rPr lang="en-US" sz="3200" dirty="0"/>
              <a:t>Bonus points are available. Feel free to go nuts adding extra  features.</a:t>
            </a:r>
          </a:p>
          <a:p>
            <a:endParaRPr lang="en-US" sz="3200" dirty="0"/>
          </a:p>
          <a:p>
            <a:r>
              <a:rPr lang="en-US" sz="3200" dirty="0"/>
              <a:t>This is your time. This is your destiny. Impress us!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88917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70B6-BC2A-3A3D-A459-773C467AB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0223"/>
          </a:xfrm>
        </p:spPr>
        <p:txBody>
          <a:bodyPr>
            <a:normAutofit/>
          </a:bodyPr>
          <a:lstStyle/>
          <a:p>
            <a:pPr algn="ctr"/>
            <a:r>
              <a:rPr lang="en-US" sz="96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045228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1360</Words>
  <Application>Microsoft Office PowerPoint</Application>
  <PresentationFormat>Widescreen</PresentationFormat>
  <Paragraphs>159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 Theme</vt:lpstr>
      <vt:lpstr>DSA2 project: The most fun you’ll have in your whole ISCL experience!</vt:lpstr>
      <vt:lpstr>Basic facts at a glance</vt:lpstr>
      <vt:lpstr>Project overview</vt:lpstr>
      <vt:lpstr>Key components of the project</vt:lpstr>
      <vt:lpstr>GUI (Graphical User Interface)</vt:lpstr>
      <vt:lpstr>GUI examples from past projects</vt:lpstr>
      <vt:lpstr>GUI examples from past projects</vt:lpstr>
      <vt:lpstr>GUI examples from past projects</vt:lpstr>
      <vt:lpstr>Important!</vt:lpstr>
      <vt:lpstr>Web scraping</vt:lpstr>
      <vt:lpstr>OpenNLP</vt:lpstr>
      <vt:lpstr>Save via XML</vt:lpstr>
      <vt:lpstr>Making a JAR</vt:lpstr>
      <vt:lpstr>Making a JAR (continued)</vt:lpstr>
      <vt:lpstr>Useful tips in case of JARring issues</vt:lpstr>
      <vt:lpstr>How to work as a team</vt:lpstr>
      <vt:lpstr>How to GitHub as a team</vt:lpstr>
      <vt:lpstr>How Program as a team</vt:lpstr>
      <vt:lpstr>Checkpoints</vt:lpstr>
      <vt:lpstr>Checkpoints (continued)</vt:lpstr>
      <vt:lpstr>For the crazy people</vt:lpstr>
      <vt:lpstr>Some final advice</vt:lpstr>
      <vt:lpstr>Some final advice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Yu</dc:creator>
  <cp:lastModifiedBy>Kyle Yu</cp:lastModifiedBy>
  <cp:revision>4</cp:revision>
  <dcterms:created xsi:type="dcterms:W3CDTF">2025-05-22T09:32:47Z</dcterms:created>
  <dcterms:modified xsi:type="dcterms:W3CDTF">2025-05-22T14:47:30Z</dcterms:modified>
</cp:coreProperties>
</file>